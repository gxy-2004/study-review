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359" cy="6455664"/>
          </a:xfrm>
          <a:prstGeom prst="rect">
            <a:avLst/>
          </a:prstGeom>
          <a:noFill/>
          <a:ln w="3810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5176" y="265176"/>
            <a:ext cx="11661343" cy="6327648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8736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7433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6130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4827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3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2220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0917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9614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8311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7007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95704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84401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73098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61795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50491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39188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7885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16582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05279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93975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82672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71369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60066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48763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37459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26156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4853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03550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92247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80943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69640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58337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47034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35731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24427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13124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01821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90518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79215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67912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56608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45305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34002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22699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11396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00092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8789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7486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66183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54880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3576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32273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0970" y="566928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09667" y="566928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98364" y="566928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040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8736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97433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130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4827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3523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2220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0917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29614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8311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07007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95704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84401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473098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61795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50491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739188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827885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16582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005279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093975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182672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71369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360066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448763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37459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626156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14853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803550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92247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80943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069640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158337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47034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335731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24427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513124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01821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690518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779215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867912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956608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45305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134002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222699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311396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400092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88789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577486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666183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754880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843576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932273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020970" y="5943600"/>
            <a:ext cx="77724" cy="7772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109667" y="5943600"/>
            <a:ext cx="77724" cy="7772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198364" y="5943600"/>
            <a:ext cx="77724" cy="7772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08760" y="1234440"/>
            <a:ext cx="9235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0A1F44"/>
                </a:solidFill>
                <a:latin typeface="微软雅黑" panose="020B0503020204020204" charset="-122"/>
                <a:ea typeface="微软雅黑" panose="020B0503020204020204" charset="-122"/>
              </a:rPr>
              <a:t>学习复盘系统</a:t>
            </a:r>
            <a:endParaRPr sz="4600" b="1" i="0">
              <a:solidFill>
                <a:srgbClr val="0A1F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481328" y="1207008"/>
            <a:ext cx="9235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学习复盘系统</a:t>
            </a:r>
            <a:endParaRPr sz="46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463040" y="1188720"/>
            <a:ext cx="9235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学习复盘系统</a:t>
            </a:r>
            <a:endParaRPr sz="4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645920" y="2606040"/>
            <a:ext cx="8869680" cy="619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像素学伴 · AI 学习复盘秘书</a:t>
            </a:r>
            <a:endParaRPr sz="36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916430" y="5376672"/>
            <a:ext cx="8138160" cy="344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9FB6DC"/>
                </a:solidFill>
                <a:latin typeface="微软雅黑" panose="020B0503020204020204" charset="-122"/>
                <a:ea typeface="微软雅黑" panose="020B0503020204020204" charset="-122"/>
              </a:rPr>
              <a:t>汇报人：人工</a:t>
            </a:r>
            <a:r>
              <a:rPr lang="en-US" altLang="zh-CN" sz="2000" b="0" i="0">
                <a:solidFill>
                  <a:srgbClr val="9FB6DC"/>
                </a:solidFill>
                <a:latin typeface="微软雅黑" panose="020B0503020204020204" charset="-122"/>
                <a:ea typeface="微软雅黑" panose="020B0503020204020204" charset="-122"/>
              </a:rPr>
              <a:t>231          </a:t>
            </a:r>
            <a:r>
              <a:rPr lang="zh-CN" altLang="en-US" sz="2000" b="0" i="0">
                <a:solidFill>
                  <a:srgbClr val="9FB6DC"/>
                </a:solidFill>
                <a:latin typeface="微软雅黑" panose="020B0503020204020204" charset="-122"/>
                <a:ea typeface="微软雅黑" panose="020B0503020204020204" charset="-122"/>
              </a:rPr>
              <a:t>郭欣媛</a:t>
            </a:r>
            <a:endParaRPr lang="zh-CN" altLang="en-US" sz="2000" b="0" i="0">
              <a:solidFill>
                <a:srgbClr val="9FB6D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项目背景与目标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P2/16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1783080"/>
            <a:ext cx="9784080" cy="438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大四学年需要同时兼顾考研、实习、课程与毕设，时间高度碎片化，多目标需要同步推进</a:t>
            </a: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传统记录工具无法打通「目标设定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周度执行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每周复盘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月度评估」的完整闭环</a:t>
            </a: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设计目标：打造一款自带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能力的复盘秘书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支持快速生成周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月复盘、自动拆解周计划、支持长期归档回顾</a:t>
            </a: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核心价值：每周仅需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分钟输入，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即可输出结构化复盘与可落地执行计划</a:t>
            </a: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 </a:t>
            </a:r>
            <a:r>
              <a:rPr lang="zh-CN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设计来源</a:t>
            </a: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参考《复盘》</a:t>
            </a:r>
            <a:r>
              <a:rPr lang="en-US" altLang="zh-CN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--</a:t>
            </a:r>
            <a:r>
              <a:rPr lang="zh-CN" altLang="en-US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虚舟（复盘内容采用书中格式，借鉴复盘专家</a:t>
            </a:r>
            <a:r>
              <a:rPr lang="zh-CN" altLang="en-US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经验，旨在达到高效复盘</a:t>
            </a:r>
            <a:r>
              <a:rPr lang="zh-CN" altLang="en-US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成果）</a:t>
            </a: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endParaRPr sz="1500" b="1">
              <a:solidFill>
                <a:srgbClr val="F5C54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系统功能总览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P3/16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4910" y="1746885"/>
            <a:ext cx="9784080" cy="459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</a:t>
            </a:r>
            <a:r>
              <a:rPr lang="en-US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sz="150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年目标：给一年的开始设定一个崭新的</a:t>
            </a:r>
            <a:r>
              <a:rPr lang="zh-CN" sz="150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目标</a:t>
            </a:r>
            <a:endParaRPr lang="zh-CN" sz="150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</a:t>
            </a:r>
            <a:r>
              <a:rPr lang="en-US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sz="150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月目标：月初设立月目标，以月目标为当月行动方向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</a:t>
            </a:r>
            <a:r>
              <a:rPr lang="en-US"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sz="150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周复盘：按指定 7 段格式填写，AI 生成复盘文本并点评（结合前两周）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下周任务安排：周目标 + 课程量 → 落到每天上午/下午/晚间的详细计划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月复盘：月初设月目标、年末定年目标，完成 4 篇周复盘后按 10 段格式生成月复盘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年度档案库：按 年→月→周 归档，周/月均标注起止日期，可回看一年内全部文档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技术架构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P4/16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783080"/>
            <a:ext cx="2772410" cy="4478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后端：Python + Flask（RESTful JSON API，本地 JSON 存档 data/store.json）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前端：原生 HTML + CSS + JavaScript（无需构建工具，浏览器直接运行）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AI：OpenAI 兼容大模型接口（可切换 DeepSeek / 智谱GLM，Key 通过 .env 配置）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纯 API 版：app1.py（端口 5001）；网页版：app.py（端口 5000）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 descr="学习复盘系统-调用关系架构图"/>
          <p:cNvPicPr>
            <a:picLocks noChangeAspect="1"/>
          </p:cNvPicPr>
          <p:nvPr/>
        </p:nvPicPr>
        <p:blipFill>
          <a:blip r:embed="rId1"/>
          <a:srcRect l="-523" t="8204" b="25167"/>
          <a:stretch>
            <a:fillRect/>
          </a:stretch>
        </p:blipFill>
        <p:spPr>
          <a:xfrm>
            <a:off x="3930015" y="1783080"/>
            <a:ext cx="7301865" cy="4461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核心功能一：周复盘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P5/16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783080"/>
            <a:ext cx="4984750" cy="4572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输入：一周的 7 段复盘素材（事件/经验/反思/价值观/反省/年度落地/下周计划）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AI 生成：按 01~07 固定格式产出周复盘文本并存档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自动点评：结合前两周复盘给出【本周亮点/对比/综合评价/调整与实施建议】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与年目标、月目标联动：落地点评中体现长目标进度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0345" y="1627505"/>
            <a:ext cx="4610100" cy="4632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周复盘 7 段格式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P6/16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4909" y="1783080"/>
            <a:ext cx="97840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3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01 本周主要事件回顾</a:t>
            </a:r>
            <a:endParaRPr sz="13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02 工作经验总结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3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03 对标反思</a:t>
            </a:r>
            <a:endParaRPr sz="13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04 价值观梳理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3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05 每周反省</a:t>
            </a:r>
            <a:endParaRPr sz="13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06 检视年度计划落地情况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3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07 下周计划</a:t>
            </a:r>
            <a:endParaRPr sz="13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核心功能二：下周任务安排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P7/16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1783080"/>
            <a:ext cx="97840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输入：周目标 + 课程总数(节×小时) 或 课程总时长(小时) + 可学习天数 + 补充信息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AI 先输出「时段可用性表」：周一~周日 × 上午/下午/晚上 逐一标注可用/不可用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再只在可用时段排课，补充信息未提及的时段一律正常排课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时长守恒：受限时段空出的课程量自动转移，结尾用「时长核算」核对总量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自动修订：总量不足/超出或可用时段被误写休息时，自动二次修正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065" y="3792220"/>
            <a:ext cx="5302885" cy="2553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核心功能三：月复盘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P8/16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783080"/>
            <a:ext cx="4487545" cy="4362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月初设立月目标；年初设立年度目标（长期进度全程可见）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当月完成 4 篇周复盘后可生成月复盘（不足会提示）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先填月自评：本月/年度完成度(%)、自评分数、亮点不足、习惯、情绪等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AI 综合 4 周复盘 + 年/月目标进度 + 自评，按 10 段格式输出月复盘并存档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710" y="1627505"/>
            <a:ext cx="5431790" cy="4518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月复盘 10 段格式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P9/16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1783080"/>
            <a:ext cx="97840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01 梳理月度大事记</a:t>
            </a:r>
            <a:endParaRPr sz="12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02 做得最好的一件事 &amp; 最待改进的一件事</a:t>
            </a:r>
            <a:endParaRPr sz="12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03 检视各类习惯推进情况</a:t>
            </a:r>
            <a:endParaRPr sz="12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04 检视情绪与内在状态</a:t>
            </a:r>
            <a:endParaRPr sz="12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05 检视年度目标落地进度</a:t>
            </a:r>
            <a:endParaRPr sz="12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06 收获最大的一个点</a:t>
            </a:r>
            <a:endParaRPr sz="12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07 梳理问题和风险</a:t>
            </a:r>
            <a:endParaRPr sz="12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08 寻找发力点、界定能力圈</a:t>
            </a:r>
            <a:endParaRPr sz="12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09 寻求反馈</a:t>
            </a:r>
            <a:endParaRPr sz="1250" b="0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▪  </a:t>
            </a:r>
            <a:r>
              <a:rPr sz="12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10 制定下个月行动计划</a:t>
            </a:r>
            <a:endParaRPr sz="12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核心功能四：年度复盘档案库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P10/16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783080"/>
            <a:ext cx="5481320" cy="43903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年目标横幅直接置顶展示；年份/月份下拉可选查看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月份卡片：月初=月目标区、月末=月复盘区、中间=每周复盘/周计划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每周卡标注周起止日期（按 ISO 周自动计算周一到周日）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全年视图可折叠；单月视图展开；支持复制/删除/跳转补录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825" y="1687830"/>
            <a:ext cx="4357370" cy="4580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AI 接入与生成质量保障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P11/16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1783080"/>
            <a:ext cx="97840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模型可切换：DeepSeek（v4-flash/v4-pro）或 智谱 glm-4-flash，Key 存 .env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成本控制：默认 deepseek-v4-flash + 关闭思考(LLM_THINKING=off)，一次计划约 13~25 秒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补充信息=最高优先级硬约束：只限制明确提及的时段，禁止越界脑补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程序化兜底：解析输出自检（时长核算 + 可用时段冲突），发现问题自动二次修订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未配置 Key 或接口失败时自动降级为本地模板，系统离线可用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界面与交互体验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P12/16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1783080"/>
            <a:ext cx="97840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像素风格 UI：金色 + 蓝色主色调，CRT 扫描线质感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霓虹闪烁刷新特效：点击按钮触发整屏霓虹闪烁 + 扫描条动画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生成进度条：慢速爬升 + 呼吸等待动画 + 已等待秒数提示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交互闭环：录入 → 生成 → 档案可跳转补录/复制/删除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645" y="3328670"/>
            <a:ext cx="9680575" cy="125222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790" y="4580890"/>
            <a:ext cx="55245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部署与运行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P13/16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783080"/>
            <a:ext cx="9784080" cy="44126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依赖：pip install -r requirements.txt（flask / requests）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配置：复制 .env.example 为 .env，填入 LLM_API_KEY / LLM_BASE_URL / LLM_MODEL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网页版：python app.py  →  http://127.0.0.1:5000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纯后端 API：python app1.py  →  http://127.0.0.1:5001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数据保存在 data/store.json（本地 JSON，可备份）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■  </a:t>
            </a:r>
            <a:r>
              <a:rPr lang="zh-CN" sz="150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前后端传参：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493260"/>
            <a:ext cx="4370070" cy="161925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295" y="3562350"/>
            <a:ext cx="4548505" cy="2550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API 一览（RESTful JSON）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P14/16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1783080"/>
            <a:ext cx="97840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GET /api/state  全部状态（目标/复盘/计划/自评）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POST /api/year_goal · /api/month_goal  年/月目标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POST /api/week_reviews  生成并存档周复盘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POST /api/schedules  生成并存档下周计划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POST /api/month_reviews  生成并存档月复盘（需 4 周周复盘）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35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DELETE /api/week_reviews|schedules|month_reviews/&lt;id&gt;  删除档案</a:t>
            </a:r>
            <a:endParaRPr sz="135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实测效果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P15/16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1783080"/>
            <a:ext cx="3963035" cy="43008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35 小时课程计划：AI 核算合计精确 = 35h，误差 0，并给出逐日安排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复杂补充信息全部落实：周五下午/晚上休、周六上午休均只限制对应时段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误休自动修复：可用时段被写成休息时，二次修订自动改回具体任务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速度：关闭思考后单次计划约 13~25 秒（优化前 2~6 分钟）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2725" y="1783080"/>
            <a:ext cx="592836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6304" y="146304"/>
            <a:ext cx="11899087" cy="6565392"/>
          </a:xfrm>
          <a:prstGeom prst="rect">
            <a:avLst/>
          </a:prstGeom>
          <a:noFill/>
          <a:ln w="27940">
            <a:solidFill>
              <a:srgbClr val="F5C5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210312"/>
            <a:ext cx="11771071" cy="6437376"/>
          </a:xfrm>
          <a:prstGeom prst="rect">
            <a:avLst/>
          </a:prstGeom>
          <a:noFill/>
          <a:ln w="9525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91440" cy="566928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502920"/>
            <a:ext cx="32004" cy="566928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347472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E08A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2600" b="1" i="0">
              <a:solidFill>
                <a:srgbClr val="FFE0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8992" y="1170432"/>
            <a:ext cx="8778240" cy="228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24236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007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591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2174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7583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53420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925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8509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5093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16767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2604" y="475488"/>
            <a:ext cx="54864" cy="54864"/>
          </a:xfrm>
          <a:prstGeom prst="rect">
            <a:avLst/>
          </a:prstGeom>
          <a:solidFill>
            <a:srgbClr val="FF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48441" y="475488"/>
            <a:ext cx="54864" cy="54864"/>
          </a:xfrm>
          <a:prstGeom prst="rect">
            <a:avLst/>
          </a:prstGeom>
          <a:solidFill>
            <a:srgbClr val="F5C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14278" y="475488"/>
            <a:ext cx="54864" cy="54864"/>
          </a:xfrm>
          <a:prstGeom prst="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896112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C4FF"/>
                </a:solidFill>
                <a:latin typeface="微软雅黑" panose="020B0503020204020204" charset="-122"/>
                <a:ea typeface="微软雅黑" panose="020B0503020204020204" charset="-122"/>
              </a:rPr>
              <a:t>P16/16</a:t>
            </a:r>
            <a:endParaRPr sz="1100" b="1" i="0">
              <a:solidFill>
                <a:srgbClr val="35C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1508760"/>
            <a:ext cx="10469880" cy="4892040"/>
          </a:xfrm>
          <a:prstGeom prst="rect">
            <a:avLst/>
          </a:prstGeom>
          <a:solidFill>
            <a:srgbClr val="06142E"/>
          </a:solidFill>
          <a:ln w="1270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" y="1563624"/>
            <a:ext cx="10360152" cy="4782312"/>
          </a:xfrm>
          <a:prstGeom prst="rect">
            <a:avLst/>
          </a:prstGeom>
          <a:noFill/>
          <a:ln w="6350">
            <a:solidFill>
              <a:srgbClr val="35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19" y="1783080"/>
            <a:ext cx="9784080" cy="434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已完成：周/月复盘、周计划、月目标年目标、年度档案、AI 多模型接入闭环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可继续：思考模式按需切换(LLM_THINKING)、导出年度学习报告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可继续：周/月复盘批量导出 Word/Markdown、多目标并行拆解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F5C542"/>
                </a:solidFill>
                <a:latin typeface="微软雅黑" panose="020B0503020204020204" charset="-122"/>
                <a:ea typeface="微软雅黑" panose="020B0503020204020204" charset="-122"/>
              </a:rPr>
              <a:t>■  </a:t>
            </a:r>
            <a:r>
              <a:rPr sz="1500" b="0" i="0">
                <a:solidFill>
                  <a:srgbClr val="EAF2FF"/>
                </a:solidFill>
                <a:latin typeface="微软雅黑" panose="020B0503020204020204" charset="-122"/>
                <a:ea typeface="微软雅黑" panose="020B0503020204020204" charset="-122"/>
              </a:rPr>
              <a:t>长期价值：一份可回顾一年的个人学习数据库，支撑考研/毕业季复盘决策</a:t>
            </a:r>
            <a:endParaRPr sz="1500" b="0" i="0">
              <a:solidFill>
                <a:srgbClr val="EAF2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2931</Words>
  <Application>WPS 演示</Application>
  <PresentationFormat>On-screen Show (4:3)</PresentationFormat>
  <Paragraphs>170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︶繁華落盡゛只剩淒涼</cp:lastModifiedBy>
  <cp:revision>8</cp:revision>
  <dcterms:created xsi:type="dcterms:W3CDTF">2013-01-27T09:14:00Z</dcterms:created>
  <dcterms:modified xsi:type="dcterms:W3CDTF">2026-09-09T06:33:40Z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10721B0152324177844CA654BA4EB036_12</vt:lpwstr>
  </property>
</Properties>
</file>